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310896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 b="1">
                <a:solidFill>
                  <a:srgbClr val="A5B4FC"/>
                </a:solidFill>
                <a:latin typeface="Plus Jakarta Sans"/>
              </a:defRPr>
            </a:pPr>
            <a:r>
              <a:t>AI-POWERED BIOMETRIC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  <a:latin typeface="Plus Jakarta Sans"/>
              </a:defRPr>
            </a:pPr>
            <a:r>
              <a:t>AttendEdge</a:t>
            </a:r>
          </a:p>
          <a:p>
            <a:pPr>
              <a:spcAft>
                <a:spcPts val="1200"/>
              </a:spcAft>
              <a:defRPr sz="2100" b="1">
                <a:solidFill>
                  <a:srgbClr val="E2E8F0"/>
                </a:solidFill>
                <a:latin typeface="Plus Jakarta Sans"/>
              </a:defRPr>
            </a:pPr>
            <a:r>
              <a:t>Enterprise Face Recognition &amp; Automated Attendance Management System</a:t>
            </a:r>
          </a:p>
          <a:p>
            <a:pPr>
              <a:defRPr sz="1400">
                <a:solidFill>
                  <a:srgbClr val="CBD5E1"/>
                </a:solidFill>
                <a:latin typeface="Plus Jakarta Sans"/>
              </a:defRPr>
            </a:pPr>
            <a:r>
              <a:t>Next-Generation Contactless Biometrics with Real-Time Liveness Detection &amp; Institution-Grade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24231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Real-Time Face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4663440"/>
            <a:ext cx="24231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Active Anti-Spoof Liveness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4231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Custom Session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14816" y="4663440"/>
            <a:ext cx="24231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Dual-Role RBAC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Plus Jakarta Sans"/>
              </a:defRPr>
            </a:pPr>
            <a:r>
              <a:t>Presented by: Masaud Hasan &amp; Project Team  • 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CONTEXT &amp; CHALLENGES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The Problem with Conventional Attendance Systems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Traditional paper sheets and RFID card punch systems present severe administrative and security vulnerabilities.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283464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EF4444"/>
                </a:solidFill>
                <a:latin typeface="Plus Jakarta Sans"/>
              </a:defRPr>
            </a:pPr>
            <a:r>
              <a:t>SECURITY 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Proxy Marking &amp; Identity Fraud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Buddy punching &amp; signature forgery are rampant in large classes.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ID cards can be easily shared, cloned, or tapped by peers.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Zero cryptographic proof that the student was physically present.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2103120"/>
            <a:ext cx="283464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F59E0B"/>
                </a:solidFill>
                <a:latin typeface="Plus Jakarta Sans"/>
              </a:defRPr>
            </a:pPr>
            <a:r>
              <a:t>CLASSROOM INEFFICIENCY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Massive Instructional Time Loss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Manual roll calls consume 10 to 15 minutes of every lecture hour.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Cumulative loss of over 40+ instructional hours per semester.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Teachers act as manual record-keepers instead of focusing on instruction.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2103120"/>
            <a:ext cx="283464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4F46E5"/>
                </a:solidFill>
                <a:latin typeface="Plus Jakarta Sans"/>
              </a:defRPr>
            </a:pPr>
            <a:r>
              <a:t>ADMINISTRATIVE OVERHEAD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Data Fragmentation &amp; Delayed Audits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Disjointed register books and scattered spreadsheets.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Zero real-time visibility into attendance percentages or absentees.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Eligibility disputes right before exam hall-ticket issuances.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ARCHITECTURE &amp; ENGINEERING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End-to-End Full-Stack System Design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Modern decoupled architecture built for high concurrency, zero latency, and hardware independence.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283464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4F46E5"/>
                </a:solidFill>
                <a:latin typeface="Plus Jakarta Sans"/>
              </a:defRPr>
            </a:pPr>
            <a:r>
              <a:t>FRONTEND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Plus Jakarta Sans"/>
              </a:defRPr>
            </a:pPr>
            <a:r>
              <a:t>React 19 + TypeScript + Vite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Apple-Inspired Clean UI: SF Pro / Plus Jakarta Sans typography stack.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Hardware Webcam Control: Zero background camera drain; instant hardware release.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Dual Dedicated Portals: Independent responsive views for Admin &amp; Student.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Real-Time HUD: Animated laser reticle, instant audio-visual sound effects.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2103120"/>
            <a:ext cx="2834640" cy="36576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0EA5E9"/>
                </a:solidFill>
                <a:latin typeface="Plus Jakarta Sans"/>
              </a:defRPr>
            </a:pPr>
            <a:r>
              <a:t>BACKEND 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Plus Jakarta Sans"/>
              </a:defRPr>
            </a:pPr>
            <a:r>
              <a:t>FastAPI (Python 3.11) + REST API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High-Throughput ASGI: Asynchronous non-blocking request processing.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Security &amp; Auth: JWT HS256 stateless tokens with Bcrypt password hashing.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Strict RBAC Protection: Route-level role authorization guards.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Interactive OpenAPI: Complete auto-generated Swagger documentation at /docs.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2103120"/>
            <a:ext cx="283464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00" b="1">
                <a:solidFill>
                  <a:srgbClr val="10B981"/>
                </a:solidFill>
                <a:latin typeface="Plus Jakarta Sans"/>
              </a:defRPr>
            </a:pPr>
            <a:r>
              <a:t>COMPUTER VISION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0604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Plus Jakarta Sans"/>
              </a:defRPr>
            </a:pPr>
            <a:r>
              <a:t>OpenCV YuNet + SFace CNN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Deep Learning Detector: YuNet extracts 5 distinct facial landmarks.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Hyperspherical Embeddings: SFace produces 128-D L2-normalized vectors.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Active Liveness Verification: Random motion challenges thwart spoofing.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Duplicate Face Rejection: Cosine similarity comparison on enrollment.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CORE COMPUTER VISION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Biometric Face Recognition Pipeline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State-of-the-art neural pipeline executing deep-learning detection and recognition in under 150 milliseconds.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05740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Plus Jakarta Sans"/>
              </a:defRPr>
            </a:pPr>
            <a:r>
              <a:t>STAGE 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Camera Capture &amp; Pre-processing</a:t>
            </a:r>
          </a:p>
          <a:p>
            <a:pPr>
              <a:spcAft>
                <a:spcPts val="16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High-definition frame capture via browser WebRTC. RGB conversion, normalization, and scale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892040"/>
            <a:ext cx="205740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4338CA"/>
                </a:solidFill>
                <a:latin typeface="Plus Jakarta Sans"/>
              </a:defRPr>
            </a:pPr>
            <a:r>
              <a:t>Input 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205740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Plus Jakarta Sans"/>
              </a:defRPr>
            </a:pPr>
            <a:r>
              <a:t>STAGE 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YuNet Face &amp; Landmark Detection</a:t>
            </a:r>
          </a:p>
          <a:p>
            <a:pPr>
              <a:spcAft>
                <a:spcPts val="16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Ultra-fast deep neural net locates bounding boxes and 5 precise facial landmarks (eyes, nose, mouth corners).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892040"/>
            <a:ext cx="205740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4338CA"/>
                </a:solidFill>
                <a:latin typeface="Plus Jakarta Sans"/>
              </a:defRPr>
            </a:pPr>
            <a:r>
              <a:t>YuNet ONNX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205740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Plus Jakarta Sans"/>
              </a:defRPr>
            </a:pPr>
            <a:r>
              <a:t>STAGE 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SFace 128-D Embedding Generation</a:t>
            </a:r>
          </a:p>
          <a:p>
            <a:pPr>
              <a:spcAft>
                <a:spcPts val="16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Affine transformation aligns the face before passing into SFace CNN to extract 128-dimensional L2-norm float vectors.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892040"/>
            <a:ext cx="205740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4338CA"/>
                </a:solidFill>
                <a:latin typeface="Plus Jakarta Sans"/>
              </a:defRPr>
            </a:pPr>
            <a:r>
              <a:t>SFace CNN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057400"/>
            <a:ext cx="205740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4F46E5"/>
                </a:solidFill>
                <a:latin typeface="Plus Jakarta Sans"/>
              </a:defRPr>
            </a:pPr>
            <a:r>
              <a:t>STAGE 4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Plus Jakarta Sans"/>
              </a:defRPr>
            </a:pPr>
            <a:r>
              <a:t>Cosine Similarity Matching</a:t>
            </a:r>
          </a:p>
          <a:p>
            <a:pPr>
              <a:spcAft>
                <a:spcPts val="16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High-speed cosine distance comparison against enrolled biometric repository. Verified if similarity &gt; 0.58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892040"/>
            <a:ext cx="205740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4338CA"/>
                </a:solidFill>
                <a:latin typeface="Plus Jakarta Sans"/>
              </a:defRPr>
            </a:pPr>
            <a:r>
              <a:t>Database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15000"/>
            <a:ext cx="1069848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BENCHMARK PERFORMANCE:  Sub-150ms verification latency  •  Cosine Similarity Threshold: 0.58  •  Sub-pixel Landmark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BIOMETRIC SECURITY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Anti-Spoofing &amp; Active Liveness Protection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Multi-tier security mechanisms prevent presentation attacks, printed photographs, and replay attempts.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874519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PASSIVE QUALITY AUDIT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Plus Jakarta Sans"/>
              </a:defRPr>
            </a:pPr>
            <a:r>
              <a:t>Autonomous Frame Health Checks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Laplacian Variance Blur Detection: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Discards blurry, fast-moving, or low-resolution captures to ensure pristine face embeddings.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Illumination &amp; Contrast Balance: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Evaluates ambient lighting histograms to reject overexposed glare or deep shadows.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Face Scale &amp; Bounding Ratio: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Ensures the user is positioned at optimal proximity without extreme zoom or distortion.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Zero User Friction: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Runs transparently on every single video frame without prompting user intervention.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103120"/>
            <a:ext cx="461772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Plus Jakarta Sans"/>
              </a:defRPr>
            </a:pPr>
            <a:r>
              <a:t>ACTIVE CHALLENGE VERIFICATION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Plus Jakarta Sans"/>
              </a:defRPr>
            </a:pPr>
            <a:r>
              <a:t>Interactive Motion Challenges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Dynamic Challenge Sequences: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System randomly demands real-time gestures: Blink, Smile, Turn Head Left, or Turn Head Right.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Anti-Screen Replay Defense: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Static paper printouts and pre-recorded smartphone videos fail randomized sequence timing.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Facial Landmark Tracking: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Measures aspect ratio changes (EAR for blinks, mouth width-to-height for smiles).</a:t>
            </a:r>
          </a:p>
          <a:p>
            <a:pPr>
              <a:defRPr sz="1200" b="1">
                <a:solidFill>
                  <a:srgbClr val="0F172A"/>
                </a:solidFill>
                <a:latin typeface="Plus Jakarta Sans"/>
              </a:defRPr>
            </a:pPr>
            <a:r>
              <a:t>• Duplicate Face Detection: 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Compares new enrollments across entire database to prevent duplicate identity creation.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OPERATIONAL WORKFLOW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Live Scanner &amp; Dynamic Session Engine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Empowering administrators with complete operational flexibility without rigid pre-configurations.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50292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3464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Plus Jakarta Sans"/>
              </a:defRPr>
            </a:pPr>
            <a:r>
              <a:t>On-Demand Session Creation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Manual Entry: Enter exact subject name, room, and session title.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Custom Time Periods: Admin sets explicit start and end hours without rigid defaults.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Flexible Session Types: Regular lectures, lab practicals, exams, or seminars.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Immediate Activation: Launch live attendance monitoring with a single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2103120"/>
            <a:ext cx="5029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283464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Plus Jakarta Sans"/>
              </a:defRPr>
            </a:pPr>
            <a:r>
              <a:t>Live Camera HUD &amp; Hardware Stop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Real-Time Video HUD: Animated target laser reticle with instant biometric detection.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Complete Hardware Stop: Dedicated stop button releases all browser camera tracks.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Zero Background Drain: Webcam LED powers off immediately when stopped.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Dual-Tone Audio Cues: Synthesized Web Audio tones for instant scan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2103120"/>
            <a:ext cx="502920" cy="3657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200" b="1">
                <a:solidFill>
                  <a:srgbClr val="FFFFFF"/>
                </a:solidFill>
                <a:latin typeface="Plus Jakarta San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51760"/>
            <a:ext cx="283464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Plus Jakarta Sans"/>
              </a:defRPr>
            </a:pPr>
            <a:r>
              <a:t>Rule Enforcement &amp; Attendance Logic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DB Unique Constraints: Strict (session_id, student_id) uniqueness prevents duplicates.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Automatic Late Arrival: Auto-flags late check-ins beyond institutional grace period.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Check-In &amp; Check-Out: Measures total classroom contact duration in minutes.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  <a:latin typeface="Plus Jakarta Sans"/>
              </a:defRPr>
            </a:pPr>
            <a:r>
              <a:t>• Instant UI Feedback: Displays student name, roll number, time, and photo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USER EXPERIENCE &amp; RBAC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Tailored Dual-Role Application Portals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Strict privilege isolation between institutional administrators and enrolled students.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874519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1772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ADMINISTRATOR DASHBOARD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Plus Jakarta Sans"/>
              </a:defRPr>
            </a:pPr>
            <a:r>
              <a:t>Comprehensive Command &amp; Oversight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Live Attendance Terminal: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Operate real-time camera stations with instant audio-visual scan confirmations.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Complete Student Lifecycle: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Register students with multi-angle photos, edit metadata, or delete inactive profiles.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Attendance Correction &amp; Override: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Manual status adjustments with mandatory recorded justification for compliance.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CSV Intelligence Export: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Filter by department, session, or date and export formatted attendance spreadsheets.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System Threshold Configuration: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Adjust similarity margins, grace periods, and liveness sensitivities.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103120"/>
            <a:ext cx="461772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Plus Jakarta Sans"/>
              </a:defRPr>
            </a:pPr>
            <a:r>
              <a:t>STUDENT PERSONAL PORTAL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Plus Jakarta Sans"/>
              </a:defRPr>
            </a:pPr>
            <a:r>
              <a:t>Transparent Attendance Self-Service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Aggregate Attendance Percentage: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Real-time visual percentage dial comparing attendance against the 75% institutional requirement.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Subject-Wise Breakdown: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Detailed subject cards displaying total conducted classes, attended count, and individual percentages.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Eligibility &amp; Defaulter Alert: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Instant visual badges warning students when their attendance dips below safe exam eligibility levels.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Immutable Session Logbook: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Detailed historical timeline of every lecture scanned with timestamps and entry modes.</a:t>
            </a:r>
          </a:p>
          <a:p>
            <a:pPr>
              <a:defRPr sz="1150" b="1">
                <a:solidFill>
                  <a:srgbClr val="0F172A"/>
                </a:solidFill>
                <a:latin typeface="Plus Jakarta Sans"/>
              </a:defRPr>
            </a:pPr>
            <a:r>
              <a:t>✔ Multi-Identifier Login: </a:t>
            </a:r>
          </a:p>
          <a:p>
            <a:pPr>
              <a:spcAft>
                <a:spcPts val="600"/>
              </a:spcAft>
              <a:defRPr sz="1050">
                <a:solidFill>
                  <a:srgbClr val="475569"/>
                </a:solidFill>
                <a:latin typeface="Plus Jakarta Sans"/>
              </a:defRPr>
            </a:pPr>
            <a:r>
              <a:t>   Seamless authentication using Student ID (STU-XXXX), registered email, or verified phone.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INSTITUTIONAL INTELLIGENCE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Analytics, Audit Logging &amp; Compliance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Ensuring absolute institutional transparency, dispute resolution, and regulatory audit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1488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  <a:latin typeface="Plus Jakarta Sans"/>
              </a:defRPr>
            </a:pPr>
            <a:r>
              <a:t>Sub-150ms</a:t>
            </a:r>
          </a:p>
          <a:p>
            <a:pPr algn="ctr">
              <a:defRPr sz="900" b="1">
                <a:solidFill>
                  <a:srgbClr val="64748B"/>
                </a:solidFill>
                <a:latin typeface="Plus Jakarta Sans"/>
              </a:defRPr>
            </a:pPr>
            <a:r>
              <a:t>SCAN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74519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965960"/>
            <a:ext cx="21488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Plus Jakarta Sans"/>
              </a:defRPr>
            </a:pPr>
            <a:r>
              <a:t>100%</a:t>
            </a:r>
          </a:p>
          <a:p>
            <a:pPr algn="ctr">
              <a:defRPr sz="900" b="1">
                <a:solidFill>
                  <a:srgbClr val="64748B"/>
                </a:solidFill>
                <a:latin typeface="Plus Jakarta Sans"/>
              </a:defRPr>
            </a:pPr>
            <a:r>
              <a:t>PROXY ELIMINATION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74519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65960"/>
            <a:ext cx="21488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400" b="1">
                <a:solidFill>
                  <a:srgbClr val="0EA5E9"/>
                </a:solidFill>
                <a:latin typeface="Plus Jakarta Sans"/>
              </a:defRPr>
            </a:pPr>
            <a:r>
              <a:t>75%</a:t>
            </a:r>
          </a:p>
          <a:p>
            <a:pPr algn="ctr">
              <a:defRPr sz="900" b="1">
                <a:solidFill>
                  <a:srgbClr val="64748B"/>
                </a:solidFill>
                <a:latin typeface="Plus Jakarta Sans"/>
              </a:defRPr>
            </a:pPr>
            <a:r>
              <a:t>ELIGIBILITY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74519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965960"/>
            <a:ext cx="21488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Plus Jakarta Sans"/>
              </a:defRPr>
            </a:pPr>
            <a:r>
              <a:t>Zero</a:t>
            </a:r>
          </a:p>
          <a:p>
            <a:pPr algn="ctr">
              <a:defRPr sz="900" b="1">
                <a:solidFill>
                  <a:srgbClr val="64748B"/>
                </a:solidFill>
                <a:latin typeface="Plus Jakarta Sans"/>
              </a:defRPr>
            </a:pPr>
            <a:r>
              <a:t>LOST LECTURE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1663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200400"/>
            <a:ext cx="51663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46177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DYNAMIC RECHARTS VISUALIZATION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Plus Jakarta Sans"/>
              </a:defRPr>
            </a:pPr>
            <a:r>
              <a:t>Institutional Trend Intelligence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Attendance percentage trends visualized across days and academic terms.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Subject-by-subject comparative analysis to identify low engagement areas.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Dedicated Absent &amp; Late Student filter views for targeted counselor follow-ups.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Instant CSV export capturing student roll, timestamp, and verification confidence.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83280"/>
            <a:ext cx="46177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Plus Jakarta Sans"/>
              </a:defRPr>
            </a:pPr>
            <a:r>
              <a:t>REGULATORY AUDIT TRAIL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Plus Jakarta Sans"/>
              </a:defRPr>
            </a:pPr>
            <a:r>
              <a:t>Immutable Accountability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Every manual correction strictly requires an authorized reason log.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Tracks admin user ID, student ID, previous status, new status, and exact timestamp.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Eliminates arbitrary mark tampering and provides legal defense in disputes.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Meets strict university accreditation and educational board inspection standards.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F46E5"/>
                </a:solidFill>
                <a:latin typeface="Plus Jakarta Sans"/>
              </a:defRPr>
            </a:pPr>
            <a:r>
              <a:t>VALUE PROPOSITION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Plus Jakarta Sans"/>
              </a:defRPr>
            </a:pPr>
            <a:r>
              <a:t>Real-World Institutional Impact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Quantifiable efficiency gains and cost advantages over traditional and legacy biometric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283464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4F46E5"/>
                </a:solidFill>
                <a:latin typeface="Plus Jakarta Sans"/>
              </a:defRPr>
            </a:pPr>
            <a:r>
              <a:t>HARDWARE INDEPENDENCE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Zero Dedicated Hardware Costs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Runs on standard existing teacher laptops, tablets, or basic USB webcams.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No expensive proprietary biometric turnstiles or fingerprint scanners required.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Eliminates hardware maintenance contracts and fingerprint sensor wear-and-tear.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2103120"/>
            <a:ext cx="283464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10B981"/>
                </a:solidFill>
                <a:latin typeface="Plus Jakarta Sans"/>
              </a:defRPr>
            </a:pPr>
            <a:r>
              <a:t>ACADEMIC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Recovers 40+ Lecture Hours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Reduces roll-call duration from 12 minutes down to seamless walk-by scanning.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Preserves 100% of syllabus teaching time across all academic departments.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Faculty can immediately start lecturing without administrative interruptions.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2103120"/>
            <a:ext cx="283464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00" b="1">
                <a:solidFill>
                  <a:srgbClr val="0EA5E9"/>
                </a:solidFill>
                <a:latin typeface="Plus Jakarta Sans"/>
              </a:defRPr>
            </a:pPr>
            <a:r>
              <a:t>INSTITUTIONAL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28346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Zero Proxy &amp; Dispute Defense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Total elimination of fraudulent sign-ins and proxy attendance.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Defensible audit trails and timestamped logs during semester end reviews.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Plus Jakarta Sans"/>
              </a:defRPr>
            </a:pPr>
            <a:r>
              <a:t>• Automated warnings empower students to manage attendance before exams.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A5B4FC"/>
                </a:solidFill>
                <a:latin typeface="Plus Jakarta Sans"/>
              </a:defRPr>
            </a:pPr>
            <a:r>
              <a:t>ATTENDEDGE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Smart, Contactless &amp; Fraud-Proof Attendance</a:t>
            </a:r>
          </a:p>
          <a:p>
            <a:pPr algn="ctr">
              <a:spcAft>
                <a:spcPts val="3600"/>
              </a:spcAft>
              <a:defRPr sz="1600">
                <a:solidFill>
                  <a:srgbClr val="CBD5E1"/>
                </a:solidFill>
                <a:latin typeface="Plus Jakarta Sans"/>
              </a:defRPr>
            </a:pPr>
            <a:r>
              <a:t>Transforming institutional administration with high-speed biometrics, anti-spoofing intelligence, and effortless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023360"/>
            <a:ext cx="20116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Sub-150ms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4023360"/>
            <a:ext cx="20116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Active Anti-Spoof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20116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Hardware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023360"/>
            <a:ext cx="20116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Complete Transparency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Thank You!</a:t>
            </a:r>
          </a:p>
          <a:p>
            <a:pPr algn="ctr"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We welcome your questions and are ready for the live system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